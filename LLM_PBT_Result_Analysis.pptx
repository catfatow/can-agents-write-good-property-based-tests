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2" r:id="rId4"/>
    <p:sldId id="263" r:id="rId5"/>
    <p:sldId id="264" r:id="rId6"/>
    <p:sldId id="265" r:id="rId7"/>
    <p:sldId id="266" r:id="rId8"/>
    <p:sldId id="267" r:id="rId9"/>
    <p:sldId id="260" r:id="rId10"/>
    <p:sldId id="261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486B35-2BAE-FB48-870A-797A1CD6923D}" v="34" dt="2026-06-02T17:10:58.3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 autoAdjust="0"/>
    <p:restoredTop sz="95422" autoAdjust="0"/>
  </p:normalViewPr>
  <p:slideViewPr>
    <p:cSldViewPr>
      <p:cViewPr varScale="1">
        <p:scale>
          <a:sx n="77" d="100"/>
          <a:sy n="77" d="100"/>
        </p:scale>
        <p:origin x="63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F51374-9E0A-A746-96BE-38F96F4540AE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A4693A-E05A-B649-8F47-6D7FB171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8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4693A-E05A-B649-8F47-6D7FB1715F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28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C5D79-F4F9-DC45-12ED-C3CFCCC49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964A4-7F17-A7A9-0B41-A75CEF184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48A8C-3116-856B-4D36-D0413A929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FCA3F-B24E-301F-221E-373686E03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4693A-E05A-B649-8F47-6D7FB1715F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42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FCC38-26DA-FCD1-50B1-D8BC85752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2F964-03D2-140D-13E9-0C8D55583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74468-8694-6A06-8AA8-DAFA8151E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74F9F-54C0-7186-4A8E-EE04187F5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4693A-E05A-B649-8F47-6D7FB1715F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30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68EBF-84E1-FC4E-9CB7-93EE1D0A8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6B1FD-2F61-0591-35A4-FDC8D5C3D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4600A-2666-7A20-D514-8B7DF3405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7CCFA-2866-9CE6-1CFA-9F2C8C2A4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4693A-E05A-B649-8F47-6D7FB1715F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76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19CC-DE76-7300-3E47-3441F5A21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4CB02-E5CC-0B6B-44CB-01DAB51BF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A9062-4A5D-13C8-F5D8-0E123B7AB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4EFDA-8B1E-36A6-FCDE-0B2B1F4C3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4693A-E05A-B649-8F47-6D7FB1715F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31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8BD5C-CB85-6BFF-3AE3-DE607683D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3A1DAA-FCDF-811A-180F-DD6F9ABF7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6112C-C97C-B060-B7E0-D8347266D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606EA-5266-C69D-2815-BDCB17D15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4693A-E05A-B649-8F47-6D7FB1715F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513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B0D52-2FB5-358E-17C3-2BA5B966E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7B0163-9DA0-08DD-959E-DEABFB913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1233C-55F9-F043-73CB-7252396A4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D52CC-5F94-AA18-8401-F632C3791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4693A-E05A-B649-8F47-6D7FB1715F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05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rice.edu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docs.python.org/3/library/statistics.html#statistics.StatisticsErro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ice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python.org/3/library/statistics.html#statistics.StatisticsError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ice.ed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ice.edu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ice.ed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python.org/3/library/statistics.html#statistics.StatisticsError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ice.edu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ice.edu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ice.edu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python.org/3/library/html.entities.html#html.entities.html5" TargetMode="Externa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rice.edu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rice.edu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ateutil.readthedocs.io/en/stable/tz.html#dateutil.tz.tzutc" TargetMode="External"/><Relationship Id="rId4" Type="http://schemas.openxmlformats.org/officeDocument/2006/relationships/hyperlink" Target="https://dateutil.readthedocs.io/en/stable/tz.html#dateutil.tz.tzoffs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 descr="Rice University">
            <a:hlinkClick r:id="rId2" tooltip="https://rice.edu"/>
          </p:cNvPr>
          <p:cNvSpPr/>
          <p:nvPr/>
        </p:nvSpPr>
        <p:spPr>
          <a:xfrm>
            <a:off x="956762" y="622561"/>
            <a:ext cx="2435041" cy="1064272"/>
          </a:xfrm>
          <a:custGeom>
            <a:avLst/>
            <a:gdLst/>
            <a:ahLst/>
            <a:cxnLst/>
            <a:rect l="l" t="t" r="r" b="b"/>
            <a:pathLst>
              <a:path w="2435041" h="1064272">
                <a:moveTo>
                  <a:pt x="0" y="0"/>
                </a:moveTo>
                <a:lnTo>
                  <a:pt x="2435041" y="0"/>
                </a:lnTo>
                <a:lnTo>
                  <a:pt x="2435041" y="1064271"/>
                </a:lnTo>
                <a:lnTo>
                  <a:pt x="0" y="1064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56" t="-32869" r="-16567" b="-34889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8480330-E8B0-0761-36CB-E008685A2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730191"/>
              </p:ext>
            </p:extLst>
          </p:nvPr>
        </p:nvGraphicFramePr>
        <p:xfrm>
          <a:off x="0" y="2095500"/>
          <a:ext cx="18288000" cy="8337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464750655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14465648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8656287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764382684"/>
                    </a:ext>
                  </a:extLst>
                </a:gridCol>
              </a:tblGrid>
              <a:tr h="1105626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SNIPPET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842423"/>
                  </a:ext>
                </a:extLst>
              </a:tr>
              <a:tr h="1105626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Invalid Input Raises </a:t>
                      </a:r>
                      <a:r>
                        <a:rPr lang="en-US" sz="2800" b="1" dirty="0" err="1">
                          <a:solidFill>
                            <a:schemeClr val="tx1"/>
                          </a:solidFill>
                        </a:rPr>
                        <a:t>StatisticsError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55-56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DESCRIBED IN DOCUMENTATOIN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Raises a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 tooltip="statistics.StatisticsError"/>
                        </a:rPr>
                        <a:t>StatisticsError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if the input dataset is empty, if it contains a zero, or if it contains a negative value. The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may be a sequence or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iterable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123949"/>
                  </a:ext>
                </a:extLst>
              </a:tr>
              <a:tr h="1105626"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59-63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DEFINITION OF GEOMETRIC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N/A (Not listed in documentation)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582467"/>
                  </a:ext>
                </a:extLst>
              </a:tr>
              <a:tr h="1105626">
                <a:tc>
                  <a:txBody>
                    <a:bodyPr/>
                    <a:lstStyle/>
                    <a:p>
                      <a:r>
                        <a:rPr lang="en-US" sz="2800" b="1" dirty="0"/>
                        <a:t>Result is within min/max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67-72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RANGE CONSTRAINT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N/A (Not listed in documentation)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680327"/>
                  </a:ext>
                </a:extLst>
              </a:tr>
              <a:tr h="1105626">
                <a:tc>
                  <a:txBody>
                    <a:bodyPr/>
                    <a:lstStyle/>
                    <a:p>
                      <a:r>
                        <a:rPr lang="en-US" sz="2800" b="1" dirty="0"/>
                        <a:t>Singleton Value Is Itself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75-76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DEFINITION OF GEOMETRIC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geometric mean indicates the central tendency or typical value of the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using the product of the values (as opposed to the arithmetic mean which uses their sum).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04772"/>
                  </a:ext>
                </a:extLst>
              </a:tr>
              <a:tr h="1105626">
                <a:tc>
                  <a:txBody>
                    <a:bodyPr/>
                    <a:lstStyle/>
                    <a:p>
                      <a:r>
                        <a:rPr lang="en-US" sz="2800" b="1" dirty="0"/>
                        <a:t>Repeating Same Data Doesn’t Change Geometric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79-84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MATH PROPERTY FROM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geometric mean indicates the central tendency or typical value of the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using the product of the values (as opposed to the arithmetic mean which uses their sum).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820293"/>
                  </a:ext>
                </a:extLst>
              </a:tr>
              <a:tr h="1105626">
                <a:tc>
                  <a:txBody>
                    <a:bodyPr/>
                    <a:lstStyle/>
                    <a:p>
                      <a:r>
                        <a:rPr lang="en-US" sz="2800" b="1" dirty="0"/>
                        <a:t>SCALING BY FACTOR C, SCALES MEAN BY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87-94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MATH PROPERTY FROM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geometric mean indicates the central tendency or typical value of the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using the product of the values (as opposed to the arithmetic mean which uses their sum).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7869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3489CA6-1FFE-A5AB-63D5-7621DB2705BC}"/>
              </a:ext>
            </a:extLst>
          </p:cNvPr>
          <p:cNvSpPr txBox="1"/>
          <p:nvPr/>
        </p:nvSpPr>
        <p:spPr>
          <a:xfrm>
            <a:off x="4572000" y="114228"/>
            <a:ext cx="13792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</a:rPr>
              <a:t>STATISTICS: </a:t>
            </a:r>
            <a:r>
              <a:rPr lang="en-US" sz="4000" b="1" dirty="0" err="1">
                <a:solidFill>
                  <a:schemeClr val="bg2"/>
                </a:solidFill>
              </a:rPr>
              <a:t>geometric_mean</a:t>
            </a:r>
            <a:r>
              <a:rPr lang="en-US" sz="4000" b="1" dirty="0">
                <a:solidFill>
                  <a:schemeClr val="bg2"/>
                </a:solidFill>
              </a:rPr>
              <a:t>()</a:t>
            </a:r>
          </a:p>
          <a:p>
            <a:r>
              <a:rPr lang="en-US" sz="4000" b="1" dirty="0">
                <a:solidFill>
                  <a:schemeClr val="bg2"/>
                </a:solidFill>
              </a:rPr>
              <a:t>CODEX GENERATED PBT TEST</a:t>
            </a:r>
          </a:p>
          <a:p>
            <a:endParaRPr lang="en-US" sz="2400" b="1" dirty="0">
              <a:solidFill>
                <a:schemeClr val="bg2"/>
              </a:solidFill>
            </a:endParaRPr>
          </a:p>
          <a:p>
            <a:r>
              <a:rPr lang="en-US" sz="2400" b="1" dirty="0">
                <a:solidFill>
                  <a:schemeClr val="bg2"/>
                </a:solidFill>
              </a:rPr>
              <a:t>Describe in documentation: 1 | Math Definition: 2 | Inferred from math/documentation: 3 </a:t>
            </a:r>
          </a:p>
          <a:p>
            <a:endParaRPr lang="en-US" sz="4000" b="1" dirty="0">
              <a:solidFill>
                <a:schemeClr val="bg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6AEAB4-2F96-BC87-51D1-B56CC0559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381500"/>
            <a:ext cx="4572000" cy="1231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ED9739-0759-3C6E-11AF-9B31BF081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 descr="Rice University">
            <a:hlinkClick r:id="rId3" tooltip="https://rice.edu"/>
            <a:extLst>
              <a:ext uri="{FF2B5EF4-FFF2-40B4-BE49-F238E27FC236}">
                <a16:creationId xmlns:a16="http://schemas.microsoft.com/office/drawing/2014/main" id="{75EA527F-5B3A-1675-A669-288943B3C8F8}"/>
              </a:ext>
            </a:extLst>
          </p:cNvPr>
          <p:cNvSpPr/>
          <p:nvPr/>
        </p:nvSpPr>
        <p:spPr>
          <a:xfrm>
            <a:off x="956762" y="622561"/>
            <a:ext cx="2435041" cy="1064272"/>
          </a:xfrm>
          <a:custGeom>
            <a:avLst/>
            <a:gdLst/>
            <a:ahLst/>
            <a:cxnLst/>
            <a:rect l="l" t="t" r="r" b="b"/>
            <a:pathLst>
              <a:path w="2435041" h="1064272">
                <a:moveTo>
                  <a:pt x="0" y="0"/>
                </a:moveTo>
                <a:lnTo>
                  <a:pt x="2435041" y="0"/>
                </a:lnTo>
                <a:lnTo>
                  <a:pt x="2435041" y="1064271"/>
                </a:lnTo>
                <a:lnTo>
                  <a:pt x="0" y="1064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656" t="-32869" r="-16567" b="-34889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AF06908-E53E-4186-D618-448294DEF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70450"/>
              </p:ext>
            </p:extLst>
          </p:nvPr>
        </p:nvGraphicFramePr>
        <p:xfrm>
          <a:off x="0" y="2095500"/>
          <a:ext cx="18288000" cy="8191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464750655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14465648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8656287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764382684"/>
                    </a:ext>
                  </a:extLst>
                </a:gridCol>
              </a:tblGrid>
              <a:tr h="1131334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SNIPPET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842423"/>
                  </a:ext>
                </a:extLst>
              </a:tr>
              <a:tr h="1131334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Invalid Input Raises </a:t>
                      </a:r>
                      <a:r>
                        <a:rPr lang="en-US" sz="2800" b="1" dirty="0" err="1">
                          <a:solidFill>
                            <a:schemeClr val="tx1"/>
                          </a:solidFill>
                        </a:rPr>
                        <a:t>StatisticsError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33-35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DESCRIBED IN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is empty,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 tooltip="statistics.StatisticsError"/>
                        </a:rPr>
                        <a:t>StatisticsError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will be raised.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123949"/>
                  </a:ext>
                </a:extLst>
              </a:tr>
              <a:tr h="1131334">
                <a:tc>
                  <a:txBody>
                    <a:bodyPr/>
                    <a:lstStyle/>
                    <a:p>
                      <a:r>
                        <a:rPr lang="en-US" sz="2800" b="1" dirty="0"/>
                        <a:t>Mean is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DEFINITION OF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arithmetic mean is the sum of the data divided by the number of data points. It is commonly called “the average”,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582467"/>
                  </a:ext>
                </a:extLst>
              </a:tr>
              <a:tr h="1403493">
                <a:tc>
                  <a:txBody>
                    <a:bodyPr/>
                    <a:lstStyle/>
                    <a:p>
                      <a:r>
                        <a:rPr lang="en-US" sz="2800" b="1" dirty="0"/>
                        <a:t>Result is within min/max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RANGE CONSTRAINT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N/A (Not listed in documentation)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680327"/>
                  </a:ext>
                </a:extLst>
              </a:tr>
              <a:tr h="1131334">
                <a:tc>
                  <a:txBody>
                    <a:bodyPr/>
                    <a:lstStyle/>
                    <a:p>
                      <a:r>
                        <a:rPr lang="en-US" sz="2800" b="1" dirty="0"/>
                        <a:t>Singleton Value Is Itself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47-48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DEFINITION OF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arithmetic mean is the sum of the data divided by the number of data points. It is commonly called “the average”,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04772"/>
                  </a:ext>
                </a:extLst>
              </a:tr>
              <a:tr h="1131334">
                <a:tc>
                  <a:txBody>
                    <a:bodyPr/>
                    <a:lstStyle/>
                    <a:p>
                      <a:r>
                        <a:rPr lang="en-US" sz="2800" b="1" dirty="0"/>
                        <a:t>Repeating Same Data Doesn’t Change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55-59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MATH PROPERTY FROM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arithmetic mean is the sum of the data divided by the number of data points. It is commonly called “the average”,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820293"/>
                  </a:ext>
                </a:extLst>
              </a:tr>
              <a:tr h="1131334">
                <a:tc>
                  <a:txBody>
                    <a:bodyPr/>
                    <a:lstStyle/>
                    <a:p>
                      <a:r>
                        <a:rPr lang="en-US" sz="2800" b="1" dirty="0"/>
                        <a:t>SCALING BY FACTOR C, adds MEAN BY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51-53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MATH PROPERTY FROM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arithmetic mean is the sum of the data divided by the number of data points. It is commonly called “the average”,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7869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6AABED5-3E8C-AFA1-7209-2245F28B124D}"/>
              </a:ext>
            </a:extLst>
          </p:cNvPr>
          <p:cNvSpPr txBox="1"/>
          <p:nvPr/>
        </p:nvSpPr>
        <p:spPr>
          <a:xfrm>
            <a:off x="4572000" y="114228"/>
            <a:ext cx="13792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</a:rPr>
              <a:t>STATISTICS: mean()</a:t>
            </a:r>
          </a:p>
          <a:p>
            <a:r>
              <a:rPr lang="en-US" sz="4000" b="1" dirty="0">
                <a:solidFill>
                  <a:schemeClr val="bg2"/>
                </a:solidFill>
              </a:rPr>
              <a:t>CODEX GENERATED PBT TEST</a:t>
            </a:r>
          </a:p>
          <a:p>
            <a:endParaRPr lang="en-US" sz="2400" b="1" dirty="0">
              <a:solidFill>
                <a:schemeClr val="bg2"/>
              </a:solidFill>
            </a:endParaRPr>
          </a:p>
          <a:p>
            <a:r>
              <a:rPr lang="en-US" sz="2400" b="1" dirty="0">
                <a:solidFill>
                  <a:schemeClr val="bg2"/>
                </a:solidFill>
              </a:rPr>
              <a:t>Describe in documentation: 1 | Math Definition: 2 | Inferred from math/documentation: 3</a:t>
            </a:r>
          </a:p>
          <a:p>
            <a:endParaRPr lang="en-US" sz="40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647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4E13F9-D1A8-3CCA-D83B-4E451DE2C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 descr="Rice University">
            <a:hlinkClick r:id="rId3" tooltip="https://rice.edu"/>
            <a:extLst>
              <a:ext uri="{FF2B5EF4-FFF2-40B4-BE49-F238E27FC236}">
                <a16:creationId xmlns:a16="http://schemas.microsoft.com/office/drawing/2014/main" id="{8804E4B9-28D5-695C-1453-886597E4673E}"/>
              </a:ext>
            </a:extLst>
          </p:cNvPr>
          <p:cNvSpPr/>
          <p:nvPr/>
        </p:nvSpPr>
        <p:spPr>
          <a:xfrm>
            <a:off x="956762" y="622561"/>
            <a:ext cx="2435041" cy="1064272"/>
          </a:xfrm>
          <a:custGeom>
            <a:avLst/>
            <a:gdLst/>
            <a:ahLst/>
            <a:cxnLst/>
            <a:rect l="l" t="t" r="r" b="b"/>
            <a:pathLst>
              <a:path w="2435041" h="1064272">
                <a:moveTo>
                  <a:pt x="0" y="0"/>
                </a:moveTo>
                <a:lnTo>
                  <a:pt x="2435041" y="0"/>
                </a:lnTo>
                <a:lnTo>
                  <a:pt x="2435041" y="1064271"/>
                </a:lnTo>
                <a:lnTo>
                  <a:pt x="0" y="1064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656" t="-32869" r="-16567" b="-34889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2C1B16-C48C-5134-5773-12F64A95E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913254"/>
              </p:ext>
            </p:extLst>
          </p:nvPr>
        </p:nvGraphicFramePr>
        <p:xfrm>
          <a:off x="0" y="2095500"/>
          <a:ext cx="18288000" cy="8191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464750655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14465648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8656287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764382684"/>
                    </a:ext>
                  </a:extLst>
                </a:gridCol>
              </a:tblGrid>
              <a:tr h="1185293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SNIPPET Line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DOCUMENTATION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842423"/>
                  </a:ext>
                </a:extLst>
              </a:tr>
              <a:tr h="1185293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Correlation Coefficient between -1&lt;= r &lt;= 1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38-40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DESCRIBED IN DOCUMENTATION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Pearson’s correlation coefficient </a:t>
                      </a:r>
                      <a:r>
                        <a:rPr lang="en-US" sz="1800" b="0" i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takes values between -1 and +1. It measures the strength and direction of a linear relationship.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123949"/>
                  </a:ext>
                </a:extLst>
              </a:tr>
              <a:tr h="1185293">
                <a:tc>
                  <a:txBody>
                    <a:bodyPr/>
                    <a:lstStyle/>
                    <a:p>
                      <a:r>
                        <a:rPr lang="en-US" sz="2800" b="1"/>
                        <a:t>Correlation is symmetric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43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INFERRED FROM FORMULA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N/A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582467"/>
                  </a:ext>
                </a:extLst>
              </a:tr>
              <a:tr h="1470433">
                <a:tc>
                  <a:txBody>
                    <a:bodyPr/>
                    <a:lstStyle/>
                    <a:p>
                      <a:r>
                        <a:rPr lang="en-US" sz="2800" b="1"/>
                        <a:t>Non-constant sequence is correlated with itself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46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INFERRED FROM FORMULA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N/A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680327"/>
                  </a:ext>
                </a:extLst>
              </a:tr>
              <a:tr h="1437019">
                <a:tc>
                  <a:txBody>
                    <a:bodyPr/>
                    <a:lstStyle/>
                    <a:p>
                      <a:r>
                        <a:rPr lang="en-US" sz="2800" b="1" dirty="0"/>
                        <a:t>Adding offsets to sequence values does not change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49-56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INFERRED FROM FORMULA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04772"/>
                  </a:ext>
                </a:extLst>
              </a:tr>
              <a:tr h="1185293">
                <a:tc>
                  <a:txBody>
                    <a:bodyPr/>
                    <a:lstStyle/>
                    <a:p>
                      <a:r>
                        <a:rPr lang="en-US" sz="2800" b="1" dirty="0"/>
                        <a:t>Repeating Same Data Doesn’t Change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58-70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MATH PROPERTY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N/A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820293"/>
                  </a:ext>
                </a:extLst>
              </a:tr>
              <a:tr h="542874"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7869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81C3EA8-9E43-9DD3-ED17-E4D756CFB210}"/>
              </a:ext>
            </a:extLst>
          </p:cNvPr>
          <p:cNvSpPr txBox="1"/>
          <p:nvPr/>
        </p:nvSpPr>
        <p:spPr>
          <a:xfrm>
            <a:off x="4572000" y="114228"/>
            <a:ext cx="13792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</a:rPr>
              <a:t>STATISTICS: correlation()</a:t>
            </a:r>
          </a:p>
          <a:p>
            <a:r>
              <a:rPr lang="en-US" sz="4000" b="1" dirty="0">
                <a:solidFill>
                  <a:schemeClr val="bg2"/>
                </a:solidFill>
              </a:rPr>
              <a:t>CODEX GENERATED PBT TEST</a:t>
            </a:r>
          </a:p>
          <a:p>
            <a:endParaRPr lang="en-US" sz="2400" b="1" dirty="0">
              <a:solidFill>
                <a:schemeClr val="bg2"/>
              </a:solidFill>
            </a:endParaRPr>
          </a:p>
          <a:p>
            <a:r>
              <a:rPr lang="en-US" sz="2400" b="1" dirty="0">
                <a:solidFill>
                  <a:schemeClr val="bg2"/>
                </a:solidFill>
              </a:rPr>
              <a:t>Describe in documentation: 1 | INFERRED: 4</a:t>
            </a:r>
            <a:endParaRPr lang="en-US" sz="4000" b="1" dirty="0">
              <a:solidFill>
                <a:schemeClr val="bg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54A285-3D9D-F4ED-766C-7457AC849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572499"/>
            <a:ext cx="4572000" cy="109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454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C6576-F280-39F2-BA88-27152BB58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 descr="Rice University">
            <a:hlinkClick r:id="rId3" tooltip="https://rice.edu"/>
            <a:extLst>
              <a:ext uri="{FF2B5EF4-FFF2-40B4-BE49-F238E27FC236}">
                <a16:creationId xmlns:a16="http://schemas.microsoft.com/office/drawing/2014/main" id="{C1CE0B45-E061-ED44-9616-0C14555CEF73}"/>
              </a:ext>
            </a:extLst>
          </p:cNvPr>
          <p:cNvSpPr/>
          <p:nvPr/>
        </p:nvSpPr>
        <p:spPr>
          <a:xfrm>
            <a:off x="956762" y="622561"/>
            <a:ext cx="2435041" cy="1064272"/>
          </a:xfrm>
          <a:custGeom>
            <a:avLst/>
            <a:gdLst/>
            <a:ahLst/>
            <a:cxnLst/>
            <a:rect l="l" t="t" r="r" b="b"/>
            <a:pathLst>
              <a:path w="2435041" h="1064272">
                <a:moveTo>
                  <a:pt x="0" y="0"/>
                </a:moveTo>
                <a:lnTo>
                  <a:pt x="2435041" y="0"/>
                </a:lnTo>
                <a:lnTo>
                  <a:pt x="2435041" y="1064271"/>
                </a:lnTo>
                <a:lnTo>
                  <a:pt x="0" y="1064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656" t="-32869" r="-16567" b="-34889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28F514-BFAF-EE89-5DF5-063A8650C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496343"/>
              </p:ext>
            </p:extLst>
          </p:nvPr>
        </p:nvGraphicFramePr>
        <p:xfrm>
          <a:off x="0" y="2095500"/>
          <a:ext cx="18288000" cy="816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464750655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14465648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8656287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764382684"/>
                    </a:ext>
                  </a:extLst>
                </a:gridCol>
              </a:tblGrid>
              <a:tr h="1185293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SNIPPET Line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DOCUMENTATION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842423"/>
                  </a:ext>
                </a:extLst>
              </a:tr>
              <a:tr h="1185293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LSR Line always passes through (mean x, mean 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46-53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FROM 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N/A</a:t>
                      </a:r>
                    </a:p>
                    <a:p>
                      <a:endParaRPr lang="en-US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123949"/>
                  </a:ext>
                </a:extLst>
              </a:tr>
              <a:tr h="1185293">
                <a:tc>
                  <a:txBody>
                    <a:bodyPr/>
                    <a:lstStyle/>
                    <a:p>
                      <a:r>
                        <a:rPr lang="en-US" sz="2800" b="1" dirty="0"/>
                        <a:t>LSR should recover the slope and intercept if point on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43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INFERRED FROM FORMULA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582467"/>
                  </a:ext>
                </a:extLst>
              </a:tr>
              <a:tr h="1470433">
                <a:tc>
                  <a:txBody>
                    <a:bodyPr/>
                    <a:lstStyle/>
                    <a:p>
                      <a:r>
                        <a:rPr lang="en-US" sz="2800" b="1" dirty="0"/>
                        <a:t>Shifting x values should not change slope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66-75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INFERRED FROM FORMULA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680327"/>
                  </a:ext>
                </a:extLst>
              </a:tr>
              <a:tr h="1437019">
                <a:tc>
                  <a:txBody>
                    <a:bodyPr/>
                    <a:lstStyle/>
                    <a:p>
                      <a:r>
                        <a:rPr lang="en-US" sz="2800" b="1" dirty="0"/>
                        <a:t>Shifting y values changes y-intercept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77-86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INFERRED FROM FORMULA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04772"/>
                  </a:ext>
                </a:extLst>
              </a:tr>
              <a:tr h="1185293">
                <a:tc>
                  <a:txBody>
                    <a:bodyPr/>
                    <a:lstStyle/>
                    <a:p>
                      <a:r>
                        <a:rPr lang="en-US" sz="2800" b="1" dirty="0"/>
                        <a:t>Scaling y, scales both slope and intercept by same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88-100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MATH PROPERTY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N/A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820293"/>
                  </a:ext>
                </a:extLst>
              </a:tr>
              <a:tr h="123776"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7869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9E8A24C-1C0D-9B0B-7422-69C318D129F9}"/>
              </a:ext>
            </a:extLst>
          </p:cNvPr>
          <p:cNvSpPr txBox="1"/>
          <p:nvPr/>
        </p:nvSpPr>
        <p:spPr>
          <a:xfrm>
            <a:off x="4572000" y="114228"/>
            <a:ext cx="13792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</a:rPr>
              <a:t>STATISTICS: </a:t>
            </a:r>
            <a:r>
              <a:rPr lang="en-US" sz="4000" b="1" dirty="0" err="1">
                <a:solidFill>
                  <a:schemeClr val="bg2"/>
                </a:solidFill>
              </a:rPr>
              <a:t>linear_regression</a:t>
            </a:r>
            <a:r>
              <a:rPr lang="en-US" sz="4000" b="1" dirty="0">
                <a:solidFill>
                  <a:schemeClr val="bg2"/>
                </a:solidFill>
              </a:rPr>
              <a:t>()</a:t>
            </a:r>
          </a:p>
          <a:p>
            <a:r>
              <a:rPr lang="en-US" sz="4000" b="1" dirty="0">
                <a:solidFill>
                  <a:schemeClr val="bg2"/>
                </a:solidFill>
              </a:rPr>
              <a:t>CODEX GENERATED PBT TEST</a:t>
            </a:r>
          </a:p>
          <a:p>
            <a:endParaRPr lang="en-US" sz="2400" b="1" dirty="0">
              <a:solidFill>
                <a:schemeClr val="bg2"/>
              </a:solidFill>
            </a:endParaRPr>
          </a:p>
          <a:p>
            <a:r>
              <a:rPr lang="en-US" sz="2400" b="1" dirty="0">
                <a:solidFill>
                  <a:schemeClr val="bg2"/>
                </a:solidFill>
              </a:rPr>
              <a:t>Describe in documentation: 5</a:t>
            </a:r>
            <a:endParaRPr lang="en-US" sz="40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054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E97DDC-EDCD-48FE-95CE-8647D62DA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 descr="Rice University">
            <a:hlinkClick r:id="rId3" tooltip="https://rice.edu"/>
            <a:extLst>
              <a:ext uri="{FF2B5EF4-FFF2-40B4-BE49-F238E27FC236}">
                <a16:creationId xmlns:a16="http://schemas.microsoft.com/office/drawing/2014/main" id="{5561DD84-21DA-88AE-E3C0-F2A4B47883A4}"/>
              </a:ext>
            </a:extLst>
          </p:cNvPr>
          <p:cNvSpPr/>
          <p:nvPr/>
        </p:nvSpPr>
        <p:spPr>
          <a:xfrm>
            <a:off x="956762" y="622561"/>
            <a:ext cx="2435041" cy="1064272"/>
          </a:xfrm>
          <a:custGeom>
            <a:avLst/>
            <a:gdLst/>
            <a:ahLst/>
            <a:cxnLst/>
            <a:rect l="l" t="t" r="r" b="b"/>
            <a:pathLst>
              <a:path w="2435041" h="1064272">
                <a:moveTo>
                  <a:pt x="0" y="0"/>
                </a:moveTo>
                <a:lnTo>
                  <a:pt x="2435041" y="0"/>
                </a:lnTo>
                <a:lnTo>
                  <a:pt x="2435041" y="1064271"/>
                </a:lnTo>
                <a:lnTo>
                  <a:pt x="0" y="1064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656" t="-32869" r="-16567" b="-34889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772A1FC-8585-428C-BB69-96F8D060E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285661"/>
              </p:ext>
            </p:extLst>
          </p:nvPr>
        </p:nvGraphicFramePr>
        <p:xfrm>
          <a:off x="0" y="2095500"/>
          <a:ext cx="18288000" cy="8784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464750655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14465648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8656287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764382684"/>
                    </a:ext>
                  </a:extLst>
                </a:gridCol>
              </a:tblGrid>
              <a:tr h="126828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SNIPPET Line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DOCUMENTATION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842423"/>
                  </a:ext>
                </a:extLst>
              </a:tr>
              <a:tr h="1435023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Odd length, return middle. Even length, return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40-44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FROM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the median (middle value) of numeric data, using the common “mean of middle two” method.</a:t>
                      </a:r>
                      <a:endParaRPr lang="en-US" sz="2800" dirty="0"/>
                    </a:p>
                    <a:p>
                      <a:endParaRPr lang="en-US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123949"/>
                  </a:ext>
                </a:extLst>
              </a:tr>
              <a:tr h="1268285">
                <a:tc>
                  <a:txBody>
                    <a:bodyPr/>
                    <a:lstStyle/>
                    <a:p>
                      <a:r>
                        <a:rPr lang="en-US" sz="2800" b="1" dirty="0"/>
                        <a:t>Reordering values should not change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47-48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FROM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the median (middle value) of numeric data, using the common “mean of middle two” method. If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is empty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582467"/>
                  </a:ext>
                </a:extLst>
              </a:tr>
              <a:tr h="1573390">
                <a:tc>
                  <a:txBody>
                    <a:bodyPr/>
                    <a:lstStyle/>
                    <a:p>
                      <a:r>
                        <a:rPr lang="en-US" sz="2800" b="1" dirty="0"/>
                        <a:t>Adding constant to every value, shifts the median by such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51-53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FROM 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680327"/>
                  </a:ext>
                </a:extLst>
              </a:tr>
              <a:tr h="1537636">
                <a:tc>
                  <a:txBody>
                    <a:bodyPr/>
                    <a:lstStyle/>
                    <a:p>
                      <a:r>
                        <a:rPr lang="en-US" sz="2800" b="1" dirty="0"/>
                        <a:t>Scaling every value in the sequence also scales the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56-58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INFERRED FROM FORMULA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04772"/>
                  </a:ext>
                </a:extLst>
              </a:tr>
              <a:tr h="1146981">
                <a:tc>
                  <a:txBody>
                    <a:bodyPr/>
                    <a:lstStyle/>
                    <a:p>
                      <a:r>
                        <a:rPr lang="en-US" sz="2800" b="1" dirty="0"/>
                        <a:t>Statistics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29-32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FROM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If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is empty,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 tooltip="statistics.StatisticsError"/>
                        </a:rPr>
                        <a:t>StatisticsError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is raised.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820293"/>
                  </a:ext>
                </a:extLst>
              </a:tr>
              <a:tr h="554441"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7869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E25E3EB-96B8-77BF-E813-DECAF7B3111F}"/>
              </a:ext>
            </a:extLst>
          </p:cNvPr>
          <p:cNvSpPr txBox="1"/>
          <p:nvPr/>
        </p:nvSpPr>
        <p:spPr>
          <a:xfrm>
            <a:off x="4572000" y="114228"/>
            <a:ext cx="13792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</a:rPr>
              <a:t>STATISTICS: median()</a:t>
            </a:r>
          </a:p>
          <a:p>
            <a:r>
              <a:rPr lang="en-US" sz="4000" b="1" dirty="0">
                <a:solidFill>
                  <a:schemeClr val="bg2"/>
                </a:solidFill>
              </a:rPr>
              <a:t>CODEX GENERATED PBT TEST</a:t>
            </a:r>
          </a:p>
          <a:p>
            <a:endParaRPr lang="en-US" sz="2400" b="1" dirty="0">
              <a:solidFill>
                <a:schemeClr val="bg2"/>
              </a:solidFill>
            </a:endParaRPr>
          </a:p>
          <a:p>
            <a:r>
              <a:rPr lang="en-US" sz="2400" b="1" dirty="0">
                <a:solidFill>
                  <a:schemeClr val="bg2"/>
                </a:solidFill>
              </a:rPr>
              <a:t>Describe in documentation: 3 | INFERRED: 2</a:t>
            </a:r>
            <a:endParaRPr lang="en-US" sz="40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418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4B35A-201F-64B5-9A12-B3C26CCD2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 descr="Rice University">
            <a:hlinkClick r:id="rId3" tooltip="https://rice.edu"/>
            <a:extLst>
              <a:ext uri="{FF2B5EF4-FFF2-40B4-BE49-F238E27FC236}">
                <a16:creationId xmlns:a16="http://schemas.microsoft.com/office/drawing/2014/main" id="{81D489A1-F721-F6CC-865B-86E593BBB237}"/>
              </a:ext>
            </a:extLst>
          </p:cNvPr>
          <p:cNvSpPr/>
          <p:nvPr/>
        </p:nvSpPr>
        <p:spPr>
          <a:xfrm>
            <a:off x="956762" y="622561"/>
            <a:ext cx="2435041" cy="1064272"/>
          </a:xfrm>
          <a:custGeom>
            <a:avLst/>
            <a:gdLst/>
            <a:ahLst/>
            <a:cxnLst/>
            <a:rect l="l" t="t" r="r" b="b"/>
            <a:pathLst>
              <a:path w="2435041" h="1064272">
                <a:moveTo>
                  <a:pt x="0" y="0"/>
                </a:moveTo>
                <a:lnTo>
                  <a:pt x="2435041" y="0"/>
                </a:lnTo>
                <a:lnTo>
                  <a:pt x="2435041" y="1064271"/>
                </a:lnTo>
                <a:lnTo>
                  <a:pt x="0" y="1064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656" t="-32869" r="-16567" b="-34889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958F3DC-EC53-7E15-BE1D-4E9484AA2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631189"/>
              </p:ext>
            </p:extLst>
          </p:nvPr>
        </p:nvGraphicFramePr>
        <p:xfrm>
          <a:off x="0" y="2095500"/>
          <a:ext cx="18288000" cy="9008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464750655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14465648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8656287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764382684"/>
                    </a:ext>
                  </a:extLst>
                </a:gridCol>
              </a:tblGrid>
              <a:tr h="126828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SNIPPET Line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DOCUMENTATION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842423"/>
                  </a:ext>
                </a:extLst>
              </a:tr>
              <a:tr h="1435023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Statistics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28-31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FROM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the median (middle value) of numeric data, using the common “mean of middle two” method.</a:t>
                      </a:r>
                      <a:endParaRPr lang="en-US" sz="2800" dirty="0"/>
                    </a:p>
                    <a:p>
                      <a:endParaRPr lang="en-US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123949"/>
                  </a:ext>
                </a:extLst>
              </a:tr>
              <a:tr h="1268285"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35-38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FROM 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582467"/>
                  </a:ext>
                </a:extLst>
              </a:tr>
              <a:tr h="1573390">
                <a:tc>
                  <a:txBody>
                    <a:bodyPr/>
                    <a:lstStyle/>
                    <a:p>
                      <a:r>
                        <a:rPr lang="en-US" sz="2800" b="1" dirty="0"/>
                        <a:t>Variance &gt;=0 and var = 0 if data is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40-43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FROM 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680327"/>
                  </a:ext>
                </a:extLst>
              </a:tr>
              <a:tr h="1537636">
                <a:tc>
                  <a:txBody>
                    <a:bodyPr/>
                    <a:lstStyle/>
                    <a:p>
                      <a:r>
                        <a:rPr lang="en-US" sz="2800" b="1" dirty="0"/>
                        <a:t>Adding constant does not change variance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45-52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FROM 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04772"/>
                  </a:ext>
                </a:extLst>
              </a:tr>
              <a:tr h="1146981">
                <a:tc>
                  <a:txBody>
                    <a:bodyPr/>
                    <a:lstStyle/>
                    <a:p>
                      <a:r>
                        <a:rPr lang="en-US" sz="2800" b="1" dirty="0"/>
                        <a:t>Scaling by k, results in k^2 * var</a:t>
                      </a:r>
                    </a:p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54-60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FROM 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2800" dirty="0"/>
                        <a:t>N/A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820293"/>
                  </a:ext>
                </a:extLst>
              </a:tr>
              <a:tr h="554441"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7869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65324F2-9055-6DB1-DA2D-DD28609A9340}"/>
              </a:ext>
            </a:extLst>
          </p:cNvPr>
          <p:cNvSpPr txBox="1"/>
          <p:nvPr/>
        </p:nvSpPr>
        <p:spPr>
          <a:xfrm>
            <a:off x="4572000" y="114228"/>
            <a:ext cx="13792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</a:rPr>
              <a:t>STATISTICS: variance()</a:t>
            </a:r>
          </a:p>
          <a:p>
            <a:r>
              <a:rPr lang="en-US" sz="4000" b="1" dirty="0">
                <a:solidFill>
                  <a:schemeClr val="bg2"/>
                </a:solidFill>
              </a:rPr>
              <a:t>CODEX GENERATED PBT TEST</a:t>
            </a:r>
          </a:p>
          <a:p>
            <a:endParaRPr lang="en-US" sz="2400" b="1" dirty="0">
              <a:solidFill>
                <a:schemeClr val="bg2"/>
              </a:solidFill>
            </a:endParaRPr>
          </a:p>
          <a:p>
            <a:r>
              <a:rPr lang="en-US" sz="2400" b="1" dirty="0">
                <a:solidFill>
                  <a:schemeClr val="bg2"/>
                </a:solidFill>
              </a:rPr>
              <a:t>Describe in documentation:1 | INFERRED: 4</a:t>
            </a:r>
            <a:endParaRPr lang="en-US" sz="4000" b="1" dirty="0">
              <a:solidFill>
                <a:schemeClr val="bg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F3B41D-DD81-835D-6ECA-FBD36175AA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82" y="4838700"/>
            <a:ext cx="3200400" cy="12406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478978-E5A6-671A-4BCB-CD2A33FF80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466904"/>
            <a:ext cx="2654300" cy="71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D60E5A-574A-E07D-1B33-3E1F7DB755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82" y="9827865"/>
            <a:ext cx="29210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77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966B1-E898-DE2A-5119-AEAC71550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 descr="Rice University">
            <a:hlinkClick r:id="rId3" tooltip="https://rice.edu"/>
            <a:extLst>
              <a:ext uri="{FF2B5EF4-FFF2-40B4-BE49-F238E27FC236}">
                <a16:creationId xmlns:a16="http://schemas.microsoft.com/office/drawing/2014/main" id="{075557BA-E60B-06C9-F5FE-68AE0F889ADA}"/>
              </a:ext>
            </a:extLst>
          </p:cNvPr>
          <p:cNvSpPr/>
          <p:nvPr/>
        </p:nvSpPr>
        <p:spPr>
          <a:xfrm>
            <a:off x="956762" y="622561"/>
            <a:ext cx="2435041" cy="1064272"/>
          </a:xfrm>
          <a:custGeom>
            <a:avLst/>
            <a:gdLst/>
            <a:ahLst/>
            <a:cxnLst/>
            <a:rect l="l" t="t" r="r" b="b"/>
            <a:pathLst>
              <a:path w="2435041" h="1064272">
                <a:moveTo>
                  <a:pt x="0" y="0"/>
                </a:moveTo>
                <a:lnTo>
                  <a:pt x="2435041" y="0"/>
                </a:lnTo>
                <a:lnTo>
                  <a:pt x="2435041" y="1064271"/>
                </a:lnTo>
                <a:lnTo>
                  <a:pt x="0" y="1064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656" t="-32869" r="-16567" b="-34889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7DA273-1778-7D5E-B2BF-33B2686DF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88267"/>
              </p:ext>
            </p:extLst>
          </p:nvPr>
        </p:nvGraphicFramePr>
        <p:xfrm>
          <a:off x="0" y="2095500"/>
          <a:ext cx="18288000" cy="9008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464750655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14465648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8656287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764382684"/>
                    </a:ext>
                  </a:extLst>
                </a:gridCol>
              </a:tblGrid>
              <a:tr h="126828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SNIPPET Line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DOCUMENTATION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842423"/>
                  </a:ext>
                </a:extLst>
              </a:tr>
              <a:tr h="1435023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Output replacement is in correct order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FROM DOCUMENTATION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 the characters &amp;, &lt; and &gt; in string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to HTML-safe sequences. </a:t>
                      </a:r>
                      <a:endParaRPr lang="en-US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123949"/>
                  </a:ext>
                </a:extLst>
              </a:tr>
              <a:tr h="1268285">
                <a:tc>
                  <a:txBody>
                    <a:bodyPr/>
                    <a:lstStyle/>
                    <a:p>
                      <a:r>
                        <a:rPr lang="en-US" sz="2800" b="1" dirty="0"/>
                        <a:t>Replacement regardless of quote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35-38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FROM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the optional flag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quote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is true (the default), the characters (") and (') are also translated; 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582467"/>
                  </a:ext>
                </a:extLst>
              </a:tr>
              <a:tr h="1573390">
                <a:tc>
                  <a:txBody>
                    <a:bodyPr/>
                    <a:lstStyle/>
                    <a:p>
                      <a:r>
                        <a:rPr lang="en-US" sz="2800" b="1" dirty="0"/>
                        <a:t>Quote are escaped if only the parameter is True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40-47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FROM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the optional flag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quote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is true (the default), the characters (") and (') are also translated; this helps for inclusion in an HTML attribute value delimited by quotes,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680327"/>
                  </a:ext>
                </a:extLst>
              </a:tr>
              <a:tr h="1537636">
                <a:tc>
                  <a:txBody>
                    <a:bodyPr/>
                    <a:lstStyle/>
                    <a:p>
                      <a:r>
                        <a:rPr lang="en-US" sz="2800" b="1" dirty="0"/>
                        <a:t>Un-escaping a parsed string returns to original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FROM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04772"/>
                  </a:ext>
                </a:extLst>
              </a:tr>
              <a:tr h="1146981">
                <a:tc>
                  <a:txBody>
                    <a:bodyPr/>
                    <a:lstStyle/>
                    <a:p>
                      <a:r>
                        <a:rPr lang="en-US" sz="2800" b="1" dirty="0"/>
                        <a:t>Replacement increases/stays same string length</a:t>
                      </a:r>
                    </a:p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FROM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2800" dirty="0"/>
                        <a:t>N/A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820293"/>
                  </a:ext>
                </a:extLst>
              </a:tr>
              <a:tr h="554441"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7869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338C8D7-1B5C-A4DF-3FB4-B19815EF1115}"/>
              </a:ext>
            </a:extLst>
          </p:cNvPr>
          <p:cNvSpPr txBox="1"/>
          <p:nvPr/>
        </p:nvSpPr>
        <p:spPr>
          <a:xfrm>
            <a:off x="4572000" y="114228"/>
            <a:ext cx="13792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</a:rPr>
              <a:t>HTML: escape()</a:t>
            </a:r>
          </a:p>
          <a:p>
            <a:r>
              <a:rPr lang="en-US" sz="4000" b="1" dirty="0">
                <a:solidFill>
                  <a:schemeClr val="bg2"/>
                </a:solidFill>
              </a:rPr>
              <a:t>CODEX GENERATED PBT TEST</a:t>
            </a:r>
          </a:p>
          <a:p>
            <a:endParaRPr lang="en-US" sz="2400" b="1" dirty="0">
              <a:solidFill>
                <a:schemeClr val="bg2"/>
              </a:solidFill>
            </a:endParaRPr>
          </a:p>
          <a:p>
            <a:r>
              <a:rPr lang="en-US" sz="2400" b="1" dirty="0">
                <a:solidFill>
                  <a:schemeClr val="bg2"/>
                </a:solidFill>
              </a:rPr>
              <a:t>Describe in documentation:3 | INFERRED: 2</a:t>
            </a:r>
            <a:endParaRPr lang="en-US" sz="40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140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93BC0-47A8-AE6C-3C85-3C9BEEDF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 descr="Rice University">
            <a:hlinkClick r:id="rId3" tooltip="https://rice.edu"/>
            <a:extLst>
              <a:ext uri="{FF2B5EF4-FFF2-40B4-BE49-F238E27FC236}">
                <a16:creationId xmlns:a16="http://schemas.microsoft.com/office/drawing/2014/main" id="{70AC6EC6-33A7-F883-283A-C92385CBE8DF}"/>
              </a:ext>
            </a:extLst>
          </p:cNvPr>
          <p:cNvSpPr/>
          <p:nvPr/>
        </p:nvSpPr>
        <p:spPr>
          <a:xfrm>
            <a:off x="956762" y="622561"/>
            <a:ext cx="2435041" cy="1064272"/>
          </a:xfrm>
          <a:custGeom>
            <a:avLst/>
            <a:gdLst/>
            <a:ahLst/>
            <a:cxnLst/>
            <a:rect l="l" t="t" r="r" b="b"/>
            <a:pathLst>
              <a:path w="2435041" h="1064272">
                <a:moveTo>
                  <a:pt x="0" y="0"/>
                </a:moveTo>
                <a:lnTo>
                  <a:pt x="2435041" y="0"/>
                </a:lnTo>
                <a:lnTo>
                  <a:pt x="2435041" y="1064271"/>
                </a:lnTo>
                <a:lnTo>
                  <a:pt x="0" y="1064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656" t="-32869" r="-16567" b="-34889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3A256AB-1B1B-617D-4B44-0FE6975C9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936351"/>
              </p:ext>
            </p:extLst>
          </p:nvPr>
        </p:nvGraphicFramePr>
        <p:xfrm>
          <a:off x="0" y="2095500"/>
          <a:ext cx="18288000" cy="841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464750655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14465648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8656287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764382684"/>
                    </a:ext>
                  </a:extLst>
                </a:gridCol>
              </a:tblGrid>
              <a:tr h="1268285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SNIPPET Line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DOCUMENTATION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842423"/>
                  </a:ext>
                </a:extLst>
              </a:tr>
              <a:tr h="1435023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Unchanged if no character reference 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30-31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FROM DOCUMENTATION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 all named and numeric character references (e.g. &amp;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;, &amp;#62;, &amp;#x3e;) in the string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to the corresponding Unicode characters.</a:t>
                      </a:r>
                      <a:endParaRPr lang="en-US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123949"/>
                  </a:ext>
                </a:extLst>
              </a:tr>
              <a:tr h="1268285">
                <a:tc>
                  <a:txBody>
                    <a:bodyPr/>
                    <a:lstStyle/>
                    <a:p>
                      <a:r>
                        <a:rPr lang="en-US" sz="2800" b="1" dirty="0"/>
                        <a:t>Escaping parsed input results in 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34-35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INFERRED FROM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582467"/>
                  </a:ext>
                </a:extLst>
              </a:tr>
              <a:tr h="1573390">
                <a:tc>
                  <a:txBody>
                    <a:bodyPr/>
                    <a:lstStyle/>
                    <a:p>
                      <a:r>
                        <a:rPr lang="en-US" sz="2800" b="1" dirty="0"/>
                        <a:t>Correct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37-49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FROM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 all named and numeric character references (e.g. &amp;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;, &amp;#62;, &amp;#x3e;) in the string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to the corresponding Unicode characters.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680327"/>
                  </a:ext>
                </a:extLst>
              </a:tr>
              <a:tr h="1537636">
                <a:tc>
                  <a:txBody>
                    <a:bodyPr/>
                    <a:lstStyle/>
                    <a:p>
                      <a:r>
                        <a:rPr lang="en-US" sz="2800" b="1" dirty="0"/>
                        <a:t>HTML numeric character references are converted back into the correct character</a:t>
                      </a:r>
                      <a:r>
                        <a:rPr lang="en-US" sz="2800" dirty="0"/>
                        <a:t>.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41-50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FROM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his function uses the rules defined by the HTML 5 standard for both valid and invalid character references, and the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 tooltip="html.entities.html5"/>
                        </a:rPr>
                        <a:t>list of HTML 5 named character references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04772"/>
                  </a:ext>
                </a:extLst>
              </a:tr>
              <a:tr h="124297"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820293"/>
                  </a:ext>
                </a:extLst>
              </a:tr>
              <a:tr h="554441"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7869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32B088A-75ED-D32A-9B6F-4AAAF2EC579E}"/>
              </a:ext>
            </a:extLst>
          </p:cNvPr>
          <p:cNvSpPr txBox="1"/>
          <p:nvPr/>
        </p:nvSpPr>
        <p:spPr>
          <a:xfrm>
            <a:off x="4572000" y="114228"/>
            <a:ext cx="13792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</a:rPr>
              <a:t>HTML: </a:t>
            </a:r>
            <a:r>
              <a:rPr lang="en-US" sz="4000" b="1" dirty="0" err="1">
                <a:solidFill>
                  <a:schemeClr val="bg2"/>
                </a:solidFill>
              </a:rPr>
              <a:t>unescape</a:t>
            </a:r>
            <a:r>
              <a:rPr lang="en-US" sz="4000" b="1" dirty="0">
                <a:solidFill>
                  <a:schemeClr val="bg2"/>
                </a:solidFill>
              </a:rPr>
              <a:t>()</a:t>
            </a:r>
          </a:p>
          <a:p>
            <a:r>
              <a:rPr lang="en-US" sz="4000" b="1" dirty="0">
                <a:solidFill>
                  <a:schemeClr val="bg2"/>
                </a:solidFill>
              </a:rPr>
              <a:t>CODEX GENERATED PBT TEST</a:t>
            </a:r>
          </a:p>
          <a:p>
            <a:endParaRPr lang="en-US" sz="2400" b="1" dirty="0">
              <a:solidFill>
                <a:schemeClr val="bg2"/>
              </a:solidFill>
            </a:endParaRPr>
          </a:p>
          <a:p>
            <a:r>
              <a:rPr lang="en-US" sz="2400" b="1" dirty="0">
                <a:solidFill>
                  <a:schemeClr val="bg2"/>
                </a:solidFill>
              </a:rPr>
              <a:t>Describe in documentation:3 | INFERRED: 2</a:t>
            </a:r>
            <a:endParaRPr lang="en-US" sz="40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72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BD76BA-D9D7-1D08-EEC9-813FD1BC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 descr="Rice University">
            <a:hlinkClick r:id="rId2" tooltip="https://rice.edu"/>
            <a:extLst>
              <a:ext uri="{FF2B5EF4-FFF2-40B4-BE49-F238E27FC236}">
                <a16:creationId xmlns:a16="http://schemas.microsoft.com/office/drawing/2014/main" id="{52F5E851-2D2B-A178-2FB3-547F6F17F69F}"/>
              </a:ext>
            </a:extLst>
          </p:cNvPr>
          <p:cNvSpPr/>
          <p:nvPr/>
        </p:nvSpPr>
        <p:spPr>
          <a:xfrm>
            <a:off x="956762" y="622561"/>
            <a:ext cx="2435041" cy="1064272"/>
          </a:xfrm>
          <a:custGeom>
            <a:avLst/>
            <a:gdLst/>
            <a:ahLst/>
            <a:cxnLst/>
            <a:rect l="l" t="t" r="r" b="b"/>
            <a:pathLst>
              <a:path w="2435041" h="1064272">
                <a:moveTo>
                  <a:pt x="0" y="0"/>
                </a:moveTo>
                <a:lnTo>
                  <a:pt x="2435041" y="0"/>
                </a:lnTo>
                <a:lnTo>
                  <a:pt x="2435041" y="1064271"/>
                </a:lnTo>
                <a:lnTo>
                  <a:pt x="0" y="1064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56" t="-32869" r="-16567" b="-348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202582-8F62-62F8-1ED3-CFED5791FC37}"/>
              </a:ext>
            </a:extLst>
          </p:cNvPr>
          <p:cNvSpPr txBox="1"/>
          <p:nvPr/>
        </p:nvSpPr>
        <p:spPr>
          <a:xfrm>
            <a:off x="3733800" y="114228"/>
            <a:ext cx="146304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</a:rPr>
              <a:t>DATEUTIL: parse()</a:t>
            </a:r>
          </a:p>
          <a:p>
            <a:r>
              <a:rPr lang="en-US" sz="4000" b="1" dirty="0">
                <a:solidFill>
                  <a:schemeClr val="bg2"/>
                </a:solidFill>
              </a:rPr>
              <a:t>CODEX GENERATED PBT TEST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Describe in documentation: 6 </a:t>
            </a:r>
            <a:endParaRPr lang="en-US" sz="4000" b="1" dirty="0">
              <a:solidFill>
                <a:schemeClr val="bg2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2ABD67-B04E-933D-0423-19EAAD91D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698541"/>
              </p:ext>
            </p:extLst>
          </p:nvPr>
        </p:nvGraphicFramePr>
        <p:xfrm>
          <a:off x="0" y="1866900"/>
          <a:ext cx="18288000" cy="9326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54845331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157004242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24423255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231959707"/>
                    </a:ext>
                  </a:extLst>
                </a:gridCol>
              </a:tblGrid>
              <a:tr h="7516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INVARIANT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SNIPPET Line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Extensive 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56458"/>
                  </a:ext>
                </a:extLst>
              </a:tr>
              <a:tr h="751609">
                <a:tc>
                  <a:txBody>
                    <a:bodyPr/>
                    <a:lstStyle/>
                    <a:p>
                      <a:r>
                        <a:rPr lang="en-US" sz="2000" b="1" dirty="0"/>
                        <a:t>Parsed Objects in datetime </a:t>
                      </a:r>
                      <a:r>
                        <a:rPr lang="en-US" sz="2000" b="1" dirty="0" err="1"/>
                        <a:t>dtype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DESCRIBED IN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returning a datetime object even for dates which are ambiguous.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483326"/>
                  </a:ext>
                </a:extLst>
              </a:tr>
              <a:tr h="751609">
                <a:tc>
                  <a:txBody>
                    <a:bodyPr/>
                    <a:lstStyle/>
                    <a:p>
                      <a:r>
                        <a:rPr lang="en-US" sz="2000" b="1" dirty="0"/>
                        <a:t>Parsed Result Components 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DESCRIBED IN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parse("2012-01-19 17:21:00 BRST", 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tzinfos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tzinfos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datetime.datetime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(2012, 1, 19, 17, 21, 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tzinfo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tzoffset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u'BRST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-7200))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747413"/>
                  </a:ext>
                </a:extLst>
              </a:tr>
              <a:tr h="751609">
                <a:tc>
                  <a:txBody>
                    <a:bodyPr/>
                    <a:lstStyle/>
                    <a:p>
                      <a:r>
                        <a:rPr lang="en-US" sz="2000" b="1" dirty="0"/>
                        <a:t>Missing Fields Are Provided with Default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108-127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DESCRIBED IN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elements specified in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timestr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replace elements in the default object.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905871"/>
                  </a:ext>
                </a:extLst>
              </a:tr>
              <a:tr h="751609">
                <a:tc>
                  <a:txBody>
                    <a:bodyPr/>
                    <a:lstStyle/>
                    <a:p>
                      <a:r>
                        <a:rPr lang="en-US" sz="2000" b="1" dirty="0"/>
                        <a:t>Month, year, and day first given 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157-170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DESCRIBED IN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Dayfirst</a:t>
                      </a:r>
                      <a:r>
                        <a:rPr lang="en-US" sz="1600" b="0" dirty="0"/>
                        <a:t>, </a:t>
                      </a:r>
                      <a:r>
                        <a:rPr lang="en-US" sz="1600" b="0" dirty="0" err="1"/>
                        <a:t>yearfirst</a:t>
                      </a:r>
                      <a:r>
                        <a:rPr lang="en-US" sz="1600" b="0" dirty="0"/>
                        <a:t> param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512152"/>
                  </a:ext>
                </a:extLst>
              </a:tr>
              <a:tr h="751609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Fuzzy_with_tokens</a:t>
                      </a:r>
                      <a:r>
                        <a:rPr lang="en-US" sz="2000" b="1" dirty="0"/>
                        <a:t>=True, returns specified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186-189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DESCRIBED IN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 True, fuzzy is automatically set to True, and the parser will return a tuple where the first element is the parsed </a:t>
                      </a:r>
                      <a:r>
                        <a:rPr lang="en-US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datetime.datetime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datetimestamp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the second element is a tuple containing the portions of the string which were ignored: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057929"/>
                  </a:ext>
                </a:extLst>
              </a:tr>
              <a:tr h="751609">
                <a:tc>
                  <a:txBody>
                    <a:bodyPr/>
                    <a:lstStyle/>
                    <a:p>
                      <a:r>
                        <a:rPr lang="en-US" sz="2000" b="1" dirty="0"/>
                        <a:t>A datetime string containing a numeric </a:t>
                      </a:r>
                      <a:r>
                        <a:rPr lang="en-US" sz="2000" b="1" dirty="0" err="1"/>
                        <a:t>timezone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offsett</a:t>
                      </a:r>
                      <a:r>
                        <a:rPr lang="en-US" sz="2000" b="1" dirty="0"/>
                        <a:t> should be preserved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213-215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DESCRIBED IN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Additional time zone names / aliases which may be present in the string. This argument maps time zone names (and optionally offsets from those time zones) to time zones.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21467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495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620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96247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799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142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3A7D4D-E2D1-67C5-C4E6-931BC36B1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 descr="Rice University">
            <a:hlinkClick r:id="rId2" tooltip="https://rice.edu"/>
            <a:extLst>
              <a:ext uri="{FF2B5EF4-FFF2-40B4-BE49-F238E27FC236}">
                <a16:creationId xmlns:a16="http://schemas.microsoft.com/office/drawing/2014/main" id="{F3DA4587-1AD2-9CF3-FAA4-FC551E1B998B}"/>
              </a:ext>
            </a:extLst>
          </p:cNvPr>
          <p:cNvSpPr/>
          <p:nvPr/>
        </p:nvSpPr>
        <p:spPr>
          <a:xfrm>
            <a:off x="956762" y="622561"/>
            <a:ext cx="2435041" cy="1064272"/>
          </a:xfrm>
          <a:custGeom>
            <a:avLst/>
            <a:gdLst/>
            <a:ahLst/>
            <a:cxnLst/>
            <a:rect l="l" t="t" r="r" b="b"/>
            <a:pathLst>
              <a:path w="2435041" h="1064272">
                <a:moveTo>
                  <a:pt x="0" y="0"/>
                </a:moveTo>
                <a:lnTo>
                  <a:pt x="2435041" y="0"/>
                </a:lnTo>
                <a:lnTo>
                  <a:pt x="2435041" y="1064271"/>
                </a:lnTo>
                <a:lnTo>
                  <a:pt x="0" y="1064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56" t="-32869" r="-16567" b="-348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68B533-8D7F-5A8E-A186-1AED9EF9C374}"/>
              </a:ext>
            </a:extLst>
          </p:cNvPr>
          <p:cNvSpPr txBox="1"/>
          <p:nvPr/>
        </p:nvSpPr>
        <p:spPr>
          <a:xfrm>
            <a:off x="3733800" y="114228"/>
            <a:ext cx="146304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</a:rPr>
              <a:t>DATEUTIL: </a:t>
            </a:r>
            <a:r>
              <a:rPr lang="en-US" sz="4000" b="1" dirty="0" err="1">
                <a:solidFill>
                  <a:schemeClr val="bg2"/>
                </a:solidFill>
              </a:rPr>
              <a:t>isoparse</a:t>
            </a:r>
            <a:r>
              <a:rPr lang="en-US" sz="4000" b="1" dirty="0">
                <a:solidFill>
                  <a:schemeClr val="bg2"/>
                </a:solidFill>
              </a:rPr>
              <a:t>()</a:t>
            </a:r>
          </a:p>
          <a:p>
            <a:r>
              <a:rPr lang="en-US" sz="4000" b="1" dirty="0">
                <a:solidFill>
                  <a:schemeClr val="bg2"/>
                </a:solidFill>
              </a:rPr>
              <a:t>CODEX GENERATED PBT TEST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Describe in documentation: 3 | INFERRED via documentation: 1 </a:t>
            </a:r>
            <a:endParaRPr lang="en-US" sz="4000" b="1" dirty="0">
              <a:solidFill>
                <a:schemeClr val="bg2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74217F-8F6C-DB0F-08FA-18ACE7B1F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668199"/>
              </p:ext>
            </p:extLst>
          </p:nvPr>
        </p:nvGraphicFramePr>
        <p:xfrm>
          <a:off x="0" y="1811232"/>
          <a:ext cx="18288000" cy="8572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811723676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387511218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490762269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1095758110"/>
                    </a:ext>
                  </a:extLst>
                </a:gridCol>
              </a:tblGrid>
              <a:tr h="16406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INVARIANT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SNIPPET Line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Extensive 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360570"/>
                  </a:ext>
                </a:extLst>
              </a:tr>
              <a:tr h="1305071">
                <a:tc>
                  <a:txBody>
                    <a:bodyPr/>
                    <a:lstStyle/>
                    <a:p>
                      <a:r>
                        <a:rPr lang="en-US" sz="2000" b="1" dirty="0"/>
                        <a:t>Parsed Objects in datetime </a:t>
                      </a:r>
                      <a:r>
                        <a:rPr lang="en-US" sz="2000" b="1" dirty="0" err="1"/>
                        <a:t>dtype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DESCRIBED IN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arse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 ISO-8601 datetime string into a 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datetime.datetime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127622"/>
                  </a:ext>
                </a:extLst>
              </a:tr>
              <a:tr h="1305071">
                <a:tc>
                  <a:txBody>
                    <a:bodyPr/>
                    <a:lstStyle/>
                    <a:p>
                      <a:r>
                        <a:rPr lang="en-US" sz="2000" b="1" dirty="0"/>
                        <a:t>Parsed Results Match ISO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185-195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DESCRIBED IN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Common provided date formats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680633"/>
                  </a:ext>
                </a:extLst>
              </a:tr>
              <a:tr h="1305071">
                <a:tc>
                  <a:txBody>
                    <a:bodyPr/>
                    <a:lstStyle/>
                    <a:p>
                      <a:r>
                        <a:rPr lang="en-US" sz="2000" b="1" dirty="0"/>
                        <a:t>No </a:t>
                      </a:r>
                      <a:r>
                        <a:rPr lang="en-US" sz="2000" b="1" dirty="0" err="1"/>
                        <a:t>TimeZone</a:t>
                      </a:r>
                      <a:r>
                        <a:rPr lang="en-US" sz="2000" b="1" dirty="0"/>
                        <a:t> String in Normal </a:t>
                      </a:r>
                      <a:r>
                        <a:rPr lang="en-US" sz="2000" b="1" dirty="0" err="1"/>
                        <a:t>DateTime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INFERRED VIA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565259"/>
                  </a:ext>
                </a:extLst>
              </a:tr>
              <a:tr h="3016699">
                <a:tc>
                  <a:txBody>
                    <a:bodyPr/>
                    <a:lstStyle/>
                    <a:p>
                      <a:r>
                        <a:rPr lang="en-US" sz="2000" b="1" dirty="0"/>
                        <a:t>Offset is in </a:t>
                      </a:r>
                      <a:r>
                        <a:rPr lang="en-US" sz="2000" b="1" dirty="0" err="1"/>
                        <a:t>tzinfo</a:t>
                      </a:r>
                      <a:r>
                        <a:rPr lang="en-US" sz="2000" b="1" dirty="0"/>
                        <a:t> and matches 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200-201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DESCRIBED IN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Offsets will be represented as </a:t>
                      </a: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 tooltip="dateutil.tz.tzoffset"/>
                        </a:rPr>
                        <a:t>dateutil.tz.tzoffset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objects, with the exception of UTC, which will be represented as </a:t>
                      </a: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 tooltip="dateutil.tz.tzutc"/>
                        </a:rPr>
                        <a:t>dateutil.tz.tzutc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Time zone offsets equivalent to UTC (such as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+00:00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will also be represented as </a:t>
                      </a: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 tooltip="dateutil.tz.tzutc"/>
                        </a:rPr>
                        <a:t>dateutil.tz.tzutc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457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998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ice Casual Template" id="{D0F0E5A8-0315-DE44-9890-39D0365D881D}" vid="{FC79D73D-90EE-114E-8339-9855F40936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1701</TotalTime>
  <Words>1585</Words>
  <Application>Microsoft Macintosh PowerPoint</Application>
  <PresentationFormat>Custom</PresentationFormat>
  <Paragraphs>288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Wu</dc:creator>
  <cp:lastModifiedBy>Michael Wu</cp:lastModifiedBy>
  <cp:revision>2</cp:revision>
  <dcterms:created xsi:type="dcterms:W3CDTF">2026-05-29T18:42:30Z</dcterms:created>
  <dcterms:modified xsi:type="dcterms:W3CDTF">2026-06-02T17:11:42Z</dcterms:modified>
  <dc:identifier>DAGulgw1zy0</dc:identifier>
</cp:coreProperties>
</file>